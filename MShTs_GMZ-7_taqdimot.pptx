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g_hmi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g_hmi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g_struct.png"/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g_step.png"/><Relationship Id="rId2" Type="http://schemas.openxmlformats.org/officeDocument/2006/relationships/image" Target="../media/img_impulse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g_achx.png"/><Relationship Id="rId2" Type="http://schemas.openxmlformats.org/officeDocument/2006/relationships/image" Target="../media/img_fchx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g_nyquist.png"/></Relationships>
</file>

<file path=ppt/slides/_rels/slide11.xml.rels><?xml version="1.0" encoding="UTF-8" standalone="yes"?><Relationships xmlns="http://schemas.openxmlformats.org/package/2006/relationships"></Relationships>
</file>

<file path=ppt/slides/_rels/slide12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2232000"/>
            <a:ext cx="12193200" cy="2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720000" y="432000"/>
            <a:ext cx="10800000" cy="3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400" dirty="0">
                <a:solidFill>
                  <a:srgbClr val="9FB3C4"/>
                </a:solidFill>
              </a:rPr>
              <a:t>O'ZBEKISTON RESPUBLIKASI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720000" y="684000"/>
            <a:ext cx="10800000" cy="3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400" dirty="0">
                <a:solidFill>
                  <a:srgbClr val="9FB3C4"/>
                </a:solidFill>
              </a:rPr>
              <a:t>NAVOIY KON-METALLURGIYA KOMBINATI . GMZ-7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720000" y="1224000"/>
            <a:ext cx="10800000" cy="108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3400" b="1" dirty="0">
                <a:solidFill>
                  <a:srgbClr val="FFFFFF"/>
                </a:solidFill>
              </a:rPr>
              <a:t>MShTs TEGIRMONI BOSHQARUV TIZIMINI</a:t>
            </a:r>
          </a:p>
          <a:p>
            <a:pPr algn="ctr">
              <a:spcBef>
                <a:spcPts val="200"/>
              </a:spcBef>
            </a:pPr>
            <a:r>
              <a:rPr lang="uz-UZ" sz="3400" b="1" dirty="0">
                <a:solidFill>
                  <a:srgbClr val="40C0FF"/>
                </a:solidFill>
              </a:rPr>
              <a:t>AVTOMATLASHTIRISH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720000" y="2376000"/>
            <a:ext cx="10800000" cy="3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700" dirty="0">
                <a:solidFill>
                  <a:srgbClr val="CFE0EE"/>
                </a:solidFill>
              </a:rPr>
              <a:t>GMZ-7 maydalash bo'limi - sharli tegirmona (MShTs)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720000" y="3240000"/>
            <a:ext cx="10800000" cy="432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600" i="1" dirty="0">
                <a:solidFill>
                  <a:srgbClr val="9FB3C4"/>
                </a:solidFill>
              </a:rPr>
              <a:t>Bitiruv malakaviy ishi himoyasi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1260000" y="4320000"/>
            <a:ext cx="4680000" cy="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uz-UZ" sz="1500" dirty="0">
                <a:solidFill>
                  <a:srgbClr val="E6EEF5"/>
                </a:solidFill>
              </a:rPr>
              <a:t>Bajardi: _______________</a:t>
            </a:r>
          </a:p>
          <a:p>
            <a:pPr algn="l">
              <a:spcBef>
                <a:spcPts val="300"/>
              </a:spcBef>
            </a:pPr>
            <a:r>
              <a:rPr lang="uz-UZ" sz="1500" dirty="0">
                <a:solidFill>
                  <a:srgbClr val="E6EEF5"/>
                </a:solidFill>
              </a:rPr>
              <a:t>Guruh: _______________</a:t>
            </a:r>
          </a:p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6480000" y="4320000"/>
            <a:ext cx="4680000" cy="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uz-UZ" sz="1500" dirty="0">
                <a:solidFill>
                  <a:srgbClr val="E6EEF5"/>
                </a:solidFill>
              </a:rPr>
              <a:t>Ilmiy rahbar: _______________</a:t>
            </a:r>
          </a:p>
          <a:p>
            <a:pPr algn="l">
              <a:spcBef>
                <a:spcPts val="300"/>
              </a:spcBef>
            </a:pPr>
            <a:r>
              <a:rPr lang="uz-UZ" sz="1500" dirty="0">
                <a:solidFill>
                  <a:srgbClr val="E6EEF5"/>
                </a:solidFill>
              </a:rPr>
              <a:t>Lavozim: _______________</a:t>
            </a:r>
          </a:p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720000" y="6228000"/>
            <a:ext cx="10800000" cy="3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500" b="1" dirty="0">
                <a:solidFill>
                  <a:srgbClr val="40C0FF"/>
                </a:solidFill>
              </a:rPr>
              <a:t>Navoiy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1. Mavzuning dolzarbligi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60000" y="1080000"/>
            <a:ext cx="11448000" cy="5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00" dirty="0">
                <a:solidFill>
                  <a:srgbClr val="222B36"/>
                </a:solidFill>
              </a:rPr>
              <a:t>MShTs sharli tegirmonlari GMZ-7 maydalash sxemasining asosiy va eng energiya talab qiluvchi agregati hisoblanadi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00" dirty="0">
                <a:solidFill>
                  <a:srgbClr val="222B36"/>
                </a:solidFill>
              </a:rPr>
              <a:t>Qo'lda boshqaruvda tegirmona yuklamasi beqaror, solishtirma energiya sarfi yuqori, maydalash sifati o'zgaruvchan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00" dirty="0">
                <a:solidFill>
                  <a:srgbClr val="222B36"/>
                </a:solidFill>
              </a:rPr>
              <a:t>Ruda xossalari (qattiqlik, granulometriya) o'zgarib turishi natijasida texnologik rejimni ushlab turish murakkab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00" b="1" dirty="0">
                <a:solidFill>
                  <a:srgbClr val="222B36"/>
                </a:solidFill>
              </a:rPr>
              <a:t>Avtomatlashtirish quyidagilarni ta'minlaydi: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barqaror yuklama va maksimal mahsuldorlik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elektr energiyasi va po'lat sharlar sarfini kamaytirish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operator xatosini kamaytirish va texnik xavfsizlik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2. Ishning maqsadi va vazifalari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60000" y="1080000"/>
            <a:ext cx="11448000" cy="5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50" b="1" dirty="0">
                <a:solidFill>
                  <a:srgbClr val="222B36"/>
                </a:solidFill>
              </a:rPr>
              <a:t>Maqsad: MShTs tegirmonini avtomatik boshqarish (rostlash) tizimini ishlab chiqish va uning ko'rsatkichlarini tahlil qilish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50" b="1" dirty="0">
                <a:solidFill>
                  <a:srgbClr val="222B36"/>
                </a:solidFill>
              </a:rPr>
              <a:t>Vazifalar: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maydalash texnologik jarayonini boshqaruv obyekti sifatida tahlil qilish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boshqaruv obyektining matematik modelini (uzatish funksiyasini) tuzish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yopiq boshqaruv tizimining struktur sxemasini ishlab chiqish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vaqtli va chastotaviy xarakteristikalarni hisoblash, turg'unlikni baholash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operator uchun HMI/SCADA interfeysini loyihalash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3. Texnologik jarayon: MShTs tegirmona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60000" y="1080000"/>
            <a:ext cx="5580000" cy="5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Agregat: MShTs-3600x5500, privod quvvati 4000 kVt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Kiruvchi oqimlar: ruda (питатель orqali) va suv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Chiquvchi oqim: pulpa -&gt; zumpf -&gt; nasos -&gt; gidrosiklon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b="1" dirty="0">
                <a:solidFill>
                  <a:srgbClr val="222B36"/>
                </a:solidFill>
              </a:rPr>
              <a:t>Boshqariladigan kattaliklar: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00" dirty="0">
                <a:solidFill>
                  <a:srgbClr val="222B36"/>
                </a:solidFill>
              </a:rPr>
              <a:t>tegirmona yuklamasi (zapolnenie, %)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00" dirty="0">
                <a:solidFill>
                  <a:srgbClr val="222B36"/>
                </a:solidFill>
              </a:rPr>
              <a:t>mahsuldorlik (t/soat) va pulpa zichligi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00" dirty="0">
                <a:solidFill>
                  <a:srgbClr val="222B36"/>
                </a:solidFill>
              </a:rPr>
              <a:t>Bezovta ta'sirlar: ruda qattiqligi va granulometriyasining o'zgarishi</a:t>
            </a:r>
          </a:p>
        </p:txBody>
      </p:sp>
      <p:pic>
        <p:nvPicPr>
          <p:cNvPr id="6" name="img_hm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000" y="1152000"/>
            <a:ext cx="5832000" cy="328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4. HMI / SCADA operator interfeysi</a:t>
            </a:r>
          </a:p>
        </p:txBody>
      </p:sp>
      <p:pic>
        <p:nvPicPr>
          <p:cNvPr id="5" name="img_hm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999" y="1080000"/>
            <a:ext cx="9280000" cy="5220000"/>
          </a:xfrm>
          <a:prstGeom prst="rect">
            <a:avLst/>
          </a:prstGeom>
        </p:spPr>
      </p:pic>
      <p:sp>
        <p:nvSpPr>
          <p:cNvPr id="6" name="t6"/>
          <p:cNvSpPr>
            <a:spLocks noGrp="1"/>
          </p:cNvSpPr>
          <p:nvPr/>
        </p:nvSpPr>
        <p:spPr>
          <a:xfrm>
            <a:off x="432000" y="6336000"/>
            <a:ext cx="11304000" cy="432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300" i="1" dirty="0">
                <a:solidFill>
                  <a:srgbClr val="5A6B7B"/>
                </a:solidFill>
              </a:rPr>
              <a:t>Animatsiyali mnemosxema, real vaqt parametrlari, PUSK/STOP boshqaruvi va avariya jurnali (HTML5).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5. Yopiq boshqaruv tizimi struktur sxemasi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60000" y="1080000"/>
            <a:ext cx="5580000" cy="5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g(t) - topshiriq (ustavka)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Summator: e = g - y_os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Wр(s) - PID-rostlagich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Wo(s) - obyekt (tegirmona)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Wd(s) - teskari aloqa datchigi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f(t) - bezovta ta'sir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50" b="1" dirty="0">
                <a:solidFill>
                  <a:srgbClr val="222B36"/>
                </a:solidFill>
              </a:rPr>
              <a:t>Yopiq tizim: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400" dirty="0">
                <a:solidFill>
                  <a:srgbClr val="222B36"/>
                </a:solidFill>
              </a:rPr>
              <a:t>F(s)=WpWo/(1+WpWoWd)</a:t>
            </a:r>
          </a:p>
        </p:txBody>
      </p:sp>
      <p:pic>
        <p:nvPicPr>
          <p:cNvPr id="6" name="img_stru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2000" y="1512000"/>
            <a:ext cx="7488000" cy="3050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6. Boshqaruv obyektining matematik modeli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60000" y="1080000"/>
            <a:ext cx="11448000" cy="5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750" b="1" dirty="0">
                <a:solidFill>
                  <a:srgbClr val="222B36"/>
                </a:solidFill>
              </a:rPr>
              <a:t>Maydalash jarayoni - inersion 2-tartibli aperiodik bo'g'in: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900" dirty="0">
                <a:solidFill>
                  <a:srgbClr val="222B36"/>
                </a:solidFill>
              </a:rPr>
              <a:t>W(s) = wn^2 / (s^2 + 2*z*wn*s + wn^2)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Parametrlar: wn = 0.080 rad/s,  z = 0.50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b="1" dirty="0">
                <a:solidFill>
                  <a:srgbClr val="222B36"/>
                </a:solidFill>
              </a:rPr>
              <a:t>Turg'unlik (Hurwitz): barcha koeffitsientlar musbat,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00" dirty="0">
                <a:solidFill>
                  <a:srgbClr val="222B36"/>
                </a:solidFill>
              </a:rPr>
              <a:t>ildizlar  s1,2 = -0.0400 +/- j0.0693  (Re &lt; 0)  =&gt;  tizim TURG'UN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Bu kam susaytirilgan (underdamped) turg'un tizim bo'lib, o'tish jarayonida so'nuvchi tebranishlar kuzatiladi.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7. Vaqtli xarakteristikalar</a:t>
            </a:r>
          </a:p>
        </p:txBody>
      </p:sp>
      <p:pic>
        <p:nvPicPr>
          <p:cNvPr id="5" name="img_ste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00" y="1152000"/>
            <a:ext cx="5760000" cy="3301463"/>
          </a:xfrm>
          <a:prstGeom prst="rect">
            <a:avLst/>
          </a:prstGeom>
        </p:spPr>
      </p:pic>
      <p:pic>
        <p:nvPicPr>
          <p:cNvPr id="6" name="img_im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152000"/>
            <a:ext cx="5760000" cy="3301463"/>
          </a:xfrm>
          <a:prstGeom prst="rect">
            <a:avLst/>
          </a:prstGeom>
        </p:spPr>
      </p:pic>
      <p:sp>
        <p:nvSpPr>
          <p:cNvPr id="7" name="t7"/>
          <p:cNvSpPr>
            <a:spLocks noGrp="1"/>
          </p:cNvSpPr>
          <p:nvPr/>
        </p:nvSpPr>
        <p:spPr>
          <a:xfrm>
            <a:off x="288000" y="4572000"/>
            <a:ext cx="11592000" cy="14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1450" b="1" dirty="0">
                <a:solidFill>
                  <a:srgbClr val="222B36"/>
                </a:solidFill>
              </a:rPr>
              <a:t>O'tish xarakteristikasi h(t) - chapda;  impuls xarakteristikasi w(t) - o'ngda</a:t>
            </a:r>
          </a:p>
          <a:p>
            <a:pPr marL="285750" indent="-285750" algn="l">
              <a:spcBef>
                <a:spcPts val="4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O'zib ketish (pereregulirovanie): sigma = 16.3 %</a:t>
            </a:r>
          </a:p>
          <a:p>
            <a:pPr marL="285750" indent="-285750" algn="l">
              <a:spcBef>
                <a:spcPts val="3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O'tish jarayoni davomiyligi: t_pp = 100 s;  birinchi maksimum: tp = 45 s</a:t>
            </a:r>
          </a:p>
          <a:p>
            <a:pPr marL="285750" indent="-285750" algn="l">
              <a:spcBef>
                <a:spcPts val="3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Turg'unlashgan qiymat h(inf) = 1.0 - statik xatolik yo'q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400" b="1" dirty="0">
                <a:solidFill>
                  <a:srgbClr val="FFFFFF"/>
                </a:solidFill>
              </a:rPr>
              <a:t>8. Chastotaviy xarakteristikalar (ACHH, FCHH)</a:t>
            </a:r>
          </a:p>
        </p:txBody>
      </p:sp>
      <p:pic>
        <p:nvPicPr>
          <p:cNvPr id="5" name="img_ach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00" y="1152000"/>
            <a:ext cx="5760000" cy="3301463"/>
          </a:xfrm>
          <a:prstGeom prst="rect">
            <a:avLst/>
          </a:prstGeom>
        </p:spPr>
      </p:pic>
      <p:pic>
        <p:nvPicPr>
          <p:cNvPr id="6" name="img_fch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152000"/>
            <a:ext cx="5760000" cy="3301463"/>
          </a:xfrm>
          <a:prstGeom prst="rect">
            <a:avLst/>
          </a:prstGeom>
        </p:spPr>
      </p:pic>
      <p:sp>
        <p:nvSpPr>
          <p:cNvPr id="7" name="t7"/>
          <p:cNvSpPr>
            <a:spLocks noGrp="1"/>
          </p:cNvSpPr>
          <p:nvPr/>
        </p:nvSpPr>
        <p:spPr>
          <a:xfrm>
            <a:off x="288000" y="4572000"/>
            <a:ext cx="11592000" cy="14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1450" b="1" dirty="0">
                <a:solidFill>
                  <a:srgbClr val="222B36"/>
                </a:solidFill>
              </a:rPr>
              <a:t>Amplituda-chastota (ACHH) - chapda;  faza-chastota (FCHH) - o'ngda</a:t>
            </a:r>
          </a:p>
          <a:p>
            <a:pPr marL="285750" indent="-285750" algn="l">
              <a:spcBef>
                <a:spcPts val="4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Rezonans cho'qqisi Mr = 1.155,  rezonans chastotasi wr = 0.0566 rad/s</a:t>
            </a:r>
          </a:p>
          <a:p>
            <a:pPr marL="285750" indent="-285750" algn="l">
              <a:spcBef>
                <a:spcPts val="300"/>
              </a:spcBef>
              <a:buFont typeface="Arial"/>
              <a:buChar char="•"/>
            </a:pPr>
            <a:r>
              <a:rPr lang="uz-UZ" sz="1450" dirty="0">
                <a:solidFill>
                  <a:srgbClr val="222B36"/>
                </a:solidFill>
              </a:rPr>
              <a:t>Faza 0 dan -180 gradusgacha o'zgaradi (2-tartibli bo'g'inga xos)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400" b="1" dirty="0">
                <a:solidFill>
                  <a:srgbClr val="FFFFFF"/>
                </a:solidFill>
              </a:rPr>
              <a:t>9. Turg'unlik tahlili - AFCHH (Naykvist)</a:t>
            </a:r>
          </a:p>
        </p:txBody>
      </p:sp>
      <p:pic>
        <p:nvPicPr>
          <p:cNvPr id="5" name="img_nyqu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00" y="1152000"/>
            <a:ext cx="5580000" cy="3198292"/>
          </a:xfrm>
          <a:prstGeom prst="rect">
            <a:avLst/>
          </a:prstGeom>
        </p:spPr>
      </p:pic>
      <p:sp>
        <p:nvSpPr>
          <p:cNvPr id="6" name="t6"/>
          <p:cNvSpPr>
            <a:spLocks noGrp="1"/>
          </p:cNvSpPr>
          <p:nvPr/>
        </p:nvSpPr>
        <p:spPr>
          <a:xfrm>
            <a:off x="6336000" y="1296000"/>
            <a:ext cx="5472000" cy="4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1600" b="1" dirty="0">
                <a:solidFill>
                  <a:srgbClr val="222B36"/>
                </a:solidFill>
              </a:rPr>
              <a:t>Amplituda-faza chastota xarakteristikasi (godograf) Re-Im tekisligida.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Godograf (-1; j0) kritik nuqtani qamrab olmaydi</a:t>
            </a:r>
          </a:p>
          <a:p>
            <a:pPr marL="285750" indent="-285750" algn="l">
              <a:spcBef>
                <a:spcPts val="4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Naykvist mezoni bo'yicha yopiq tizim TURG'UN</a:t>
            </a:r>
          </a:p>
          <a:p>
            <a:pPr marL="285750" indent="-285750" algn="l">
              <a:spcBef>
                <a:spcPts val="4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Barqarorlik zaxirasi (amplituda va faza bo'yicha) yetarli</a:t>
            </a:r>
          </a:p>
          <a:p>
            <a:pPr marL="285750" indent="-285750" algn="l">
              <a:spcBef>
                <a:spcPts val="400"/>
              </a:spcBef>
              <a:buFont typeface="Arial"/>
              <a:buChar char="•"/>
            </a:pPr>
            <a:r>
              <a:rPr lang="uz-UZ" sz="1550" dirty="0">
                <a:solidFill>
                  <a:srgbClr val="222B36"/>
                </a:solidFill>
              </a:rPr>
              <a:t>ACHH/FCHH va LACHH lar ham bir-biriga mos keladi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846000"/>
            <a:ext cx="12193200" cy="32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60000" y="162000"/>
            <a:ext cx="11160000" cy="576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uz-UZ" sz="2600" b="1" dirty="0">
                <a:solidFill>
                  <a:srgbClr val="FFFFFF"/>
                </a:solidFill>
              </a:rPr>
              <a:t>10. Xulosa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60000" y="1080000"/>
            <a:ext cx="11448000" cy="5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MShTs tegirmonining maydalash jarayoni boshqaruv obyekti sifatida tahlil qilindi va turg'un matematik model (uzatish funksiyasi) tuzildi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Yopiq (teskari aloqali) avtomatik boshqarish tizimining struktur sxemasi ishlab chiqildi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Vaqtli xarakteristikalar: sigma=16.3%, t_pp=100 s; tizim statik xatoliksiz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Chastotaviy xarakteristikalar (ACHH, FCHH, LACHH, AFCHH) hisoblandi; Naykvist mezoni bo'yicha tizim turg'un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dirty="0">
                <a:solidFill>
                  <a:srgbClr val="222B36"/>
                </a:solidFill>
              </a:rPr>
              <a:t>Operator uchun zamonaviy HMI/SCADA interfeysi yaratildi</a:t>
            </a:r>
          </a:p>
          <a:p>
            <a:pPr marL="285750" indent="-285750" algn="l">
              <a:spcBef>
                <a:spcPts val="700"/>
              </a:spcBef>
              <a:buFont typeface="Arial"/>
              <a:buChar char="•"/>
            </a:pPr>
            <a:r>
              <a:rPr lang="uz-UZ" sz="1650" b="1" dirty="0">
                <a:solidFill>
                  <a:srgbClr val="222B36"/>
                </a:solidFill>
              </a:rPr>
              <a:t>Tizim energiya sarfini kamaytiradi va maydalash barqarorligini oshiradi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4031999"/>
            <a:ext cx="12193200" cy="2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720000" y="2592000"/>
            <a:ext cx="10800000" cy="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4000" b="1" dirty="0">
                <a:solidFill>
                  <a:srgbClr val="FFFFFF"/>
                </a:solidFill>
              </a:rPr>
              <a:t>E'TIBORINGIZ UCHUN RAHMAT!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720000" y="4320000"/>
            <a:ext cx="10800000" cy="5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uz-UZ" sz="1900" i="1" dirty="0">
                <a:solidFill>
                  <a:srgbClr val="40C0FF"/>
                </a:solidFill>
              </a:rPr>
              <a:t>Savollaringizga javob berishga tayyorman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2E75B6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bgFillStyleLst>
    </a:fmtScheme>
  </a:themeElements>
</a:theme>
</file>